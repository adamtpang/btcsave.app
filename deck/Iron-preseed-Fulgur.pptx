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bitcoiners refuse to sell, but they still need dollars. Iron lets them spend their bitcoin's value on a Visa card, non-custodial. Anchor everything on trust: we are the opposite of the graveyard.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lending graveyard died of the same disease: they lent out customer collateral. Our whole design forbids it. This is the wedge with a bitcoin-native investor.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steps, no jargon. The daily feel is a normal card. The difference is the limit is backed by bitcoin and it is non-custodial the whole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bitcoin lending investor drills straight into these. Have the numbers cold. The key-you-hold multisig is why rehypothecation is impossible, not merely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survivors (Ledn, Coinbase, Strike) already have non-custodial and proof-of-reserves. Our differentiation is the card plus emerging-market spend layer, issuer redundancy, and the data flywheel.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lending business, not a trading spread. The debt facility funds the book so we never dilute equity to lend. Overcollateralization is why losses stay near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the goal as reachable: the first real milestone is a few thousand high-conviction bitcoiners from the beachhead, not a mass-market moonshot. This is on the /investors page as a live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Tailoring: Fulgur's own savings-app RFS names the Philippines, Indonesia, and Vietnam by name. This is the exact geography Alex Mann runs from Singapore. Frame Iron as the credit evolution of that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last line out loud in the room. Naming IBEX (a Fulgur portfolio company) as the intended Lightning rail is true and shows you know their portfolio. Never claim a signed partner you do not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plan gates on closing this raise. After that it is licensing, launch, and acquiring a few thousand cardholders. $100k MRR is roughly a 12 to 15 month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mission line. The ask is two instruments: equity for the company, debt for the book. Keep Fulgur framed as a target you are talking to, never as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603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21792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bitcoin.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21792" y="2697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dollars.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58368" y="3675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non-custodial bitcoin credit card.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Iron, a Singapore company  ·  iron.credit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stopped innovating and started extracting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02920" y="22128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6C7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05840" y="21945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became extraction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solved credit decades ago, then perfected the squeeze: 20 to 30% APR, minimums so the balance never dies.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035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6C7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05840" y="3017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Squeezed from the other side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Bitcoiners are asset-rich and cash-poor by choice. Selling is a taxable event and gives up the upside.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38587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6C7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005840" y="3840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Rejected, or trapped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file means no. Every bitcoin-backed option is custodial or opaque: Celsius and BlockFi rehypothecated.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623560" y="2212848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GRAVEYARD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97880" y="27797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strike="sngStrike" dirty="0">
                <a:solidFill>
                  <a:srgbClr val="6C7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Celsius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strike="sngStrike" dirty="0">
                <a:solidFill>
                  <a:srgbClr val="6C7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BlockFi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strike="sngStrike" dirty="0">
                <a:solidFill>
                  <a:srgbClr val="6C7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97880" y="37673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Died custodial, opaque, and rehypothecated. We are built to be the opposite.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Chase card, backed by bitcoin not a credit score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1897380" cy="2148840"/>
          </a:xfrm>
          <a:prstGeom prst="roundRect">
            <a:avLst>
              <a:gd name="adj" fmla="val 3855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04088" y="2971800"/>
            <a:ext cx="1495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Deposit bitcoin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04088" y="3346704"/>
            <a:ext cx="1495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2-of-3 collaborative custody. You hold a key, so we cannot move it alone.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83180" y="2240280"/>
            <a:ext cx="1897380" cy="2148840"/>
          </a:xfrm>
          <a:prstGeom prst="roundRect">
            <a:avLst>
              <a:gd name="adj" fmla="val 3855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84348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784348" y="2971800"/>
            <a:ext cx="1495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USDT line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784348" y="3346704"/>
            <a:ext cx="1495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credit against your bitcoin. Your collateral qualifies you, no credit file.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240280"/>
            <a:ext cx="1897380" cy="2148840"/>
          </a:xfrm>
          <a:prstGeom prst="roundRect">
            <a:avLst>
              <a:gd name="adj" fmla="val 3855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64608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864608" y="2971800"/>
            <a:ext cx="1495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anywhere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864608" y="3346704"/>
            <a:ext cx="1495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Visa card wherever it is accepted, or withdraw USDT to your wallet.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43700" y="2240280"/>
            <a:ext cx="1897380" cy="2148840"/>
          </a:xfrm>
          <a:prstGeom prst="roundRect">
            <a:avLst>
              <a:gd name="adj" fmla="val 3855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44868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944868" y="2971800"/>
            <a:ext cx="1495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 or top up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944868" y="3346704"/>
            <a:ext cx="1495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and instant over Lightning. Your bitcoin stays yours, upside intact.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every dead lender buried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02920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Loan-to-value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22128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to 50% to start, up to 60% at the top grade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2551176"/>
            <a:ext cx="813816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596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46120" y="25968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Warned at every band, forced only near 85% LTV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2935224"/>
            <a:ext cx="813816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9809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feed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46120" y="29809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public, independent oracle, never our own book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3319272"/>
            <a:ext cx="813816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364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46120" y="33649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2-of-3 multisig, you hold a key. Native bitcoin, never wrapped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3703320"/>
            <a:ext cx="813816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749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Rehypothecation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46120" y="37490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Structurally impossible, not a promise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4087368"/>
            <a:ext cx="813816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133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to dollars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46120" y="41330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secures a USDT facility. It is never sold to fund your line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loan. A bitcoin bank.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3042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card, not just a borrow button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259689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non-custodial credit line plus a card and local-rail spend layer. Ledn and Coinbase lend; neither hands you a spendable card.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16382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Multi-issuer card redundancy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77240" y="345643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BIN sponsor can brick us. The number-one card killer is the issuer, not bitcoin. Redundancy is structural resilience.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3913632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" y="40233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underwriting-data flywheel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77240" y="431596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we make teaches us how bitcoiners borrow and repay, the proprietary path toward unsecured credit.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Chase engine, on a real balance sheet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1897380" cy="1371600"/>
          </a:xfrm>
          <a:prstGeom prst="roundRect">
            <a:avLst>
              <a:gd name="adj" fmla="val 5333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59152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interest spread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5800" y="2880360"/>
            <a:ext cx="15316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core. We keep the spread on the drawn balance.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3180" y="2194560"/>
            <a:ext cx="1897380" cy="1371600"/>
          </a:xfrm>
          <a:prstGeom prst="roundRect">
            <a:avLst>
              <a:gd name="adj" fmla="val 5333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66060" y="2359152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interchange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766060" y="2880360"/>
            <a:ext cx="15316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dollar spent on the card.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194560"/>
            <a:ext cx="1897380" cy="1371600"/>
          </a:xfrm>
          <a:prstGeom prst="roundRect">
            <a:avLst>
              <a:gd name="adj" fmla="val 5333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359152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Thin, transparent FX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846320" y="2880360"/>
            <a:ext cx="15316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USDT and local currency, the Wise way.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43700" y="2194560"/>
            <a:ext cx="1897380" cy="1371600"/>
          </a:xfrm>
          <a:prstGeom prst="roundRect">
            <a:avLst>
              <a:gd name="adj" fmla="val 5333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926580" y="2359152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subscription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26580" y="2880360"/>
            <a:ext cx="15316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LTV, no forced liquidation, priority.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Overcollateralized, so charge-offs are a fraction of Chase's 5 to 6%.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book is funded by a debt facility (debt, never dilution).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$100k MRR is a single-digit-thousands cohort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" y="239572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$100k MRR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04088" y="299923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$1.2M ARR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4408" y="224028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65576" y="239572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~6,000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465576" y="299923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cardholders (bitcoiner mix, ~$48M locked)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25896" y="224028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27064" y="2395728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~$18 / mo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227064" y="299923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cardholder ($9.5 mass-market)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3977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math:  </a:t>
            </a:r>
            <a:pPr indent="0" marL="0">
              <a:buNone/>
            </a:pPr>
            <a:r>
              <a:rPr lang="en-US" sz="135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book  ×  (net spread ~4% + interchange and FX ~3.6%)  =  revenue.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Bitcoin's credit layer, launched where the need is highest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04088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now hold bitcoin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21284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93008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~$74B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493008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crypto-collateralized loans, 2025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80760" y="2212848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81928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sequence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81928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Philippines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Indonesia, then Vietnam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3886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first: BSP and EMI licensing, high adoption, and a $35B remittance flow.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Comps as color, not valuation targets: Nubank ~$55B, Coinbase ~$50 to 90B.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operators inside the two networks that matter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1945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340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26883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School distribution. A heavy Chase, Discover, and Wise credit user: the founder is the customer.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92040" y="23408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Christian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92040" y="26883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 the global bitcoin community: credibility, ecosystem, and warm paths. Both technical operators who ship.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6576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have credible integration paths we are actively pursuing: native bitcoin collateral in multisig, and a USDT credit line plus a Visa card via a licensed issuer, settled over Lightning of the kind IBEX provides.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counterparty is signed yet, and we will never claim one that is not.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3931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iron.credit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13816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to the bitcoin bank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502920" y="2148840"/>
            <a:ext cx="1897380" cy="1554480"/>
          </a:xfrm>
          <a:prstGeom prst="roundRect">
            <a:avLst>
              <a:gd name="adj" fmla="val 470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04288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2724912"/>
            <a:ext cx="15316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credit line plus USDT card. Non-custodial, radically transparent, Lightning.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3180" y="2148840"/>
            <a:ext cx="1897380" cy="1554480"/>
          </a:xfrm>
          <a:prstGeom prst="roundRect">
            <a:avLst>
              <a:gd name="adj" fmla="val 470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66060" y="2304288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66060" y="2724912"/>
            <a:ext cx="15316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how our own users borrow and repay. The underwriting moat.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148840"/>
            <a:ext cx="1897380" cy="1554480"/>
          </a:xfrm>
          <a:prstGeom prst="roundRect">
            <a:avLst>
              <a:gd name="adj" fmla="val 470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304288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Graduate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46320" y="2724912"/>
            <a:ext cx="15316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credit scoring lifts trusted users to higher LTV, then unsecured revolving credit.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43700" y="2148840"/>
            <a:ext cx="1897380" cy="1554480"/>
          </a:xfrm>
          <a:prstGeom prst="roundRect">
            <a:avLst>
              <a:gd name="adj" fmla="val 4706"/>
            </a:avLst>
          </a:prstGeom>
          <a:solidFill>
            <a:srgbClr val="16181C"/>
          </a:solidFill>
          <a:ln w="12700">
            <a:solidFill>
              <a:srgbClr val="2A2F3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926580" y="2304288"/>
            <a:ext cx="153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26580" y="2724912"/>
            <a:ext cx="15316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a savings funnel, more markets. The full bitcoin Chase.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raise Q3 2026  ·  PH launch  ·  first cardholders ~Nov 2026  ·  durable break-even ~Month 11  ·  $100k MRR ~Month 13 (mid-2027).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r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2416" y="566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51790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$750k pre-seed, and a facility for the book.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640080" y="230428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 pre-seed (Fulgur, Curious Ventures, Network School angels). About 15 to 18 months of runway: a team of two to three, PH licensing and launch, and the first cardholders on the book.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3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USDT credit facility to fund the loan book. We never dilute the company to fund lending.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E7E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else sells a bitcoin loan. We are building the bitcoin bank, the most trustworthy one, for the people who refuse to sell.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founder@iron.credit  ·  iron.credit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 pre-seed</dc:title>
  <dc:subject>PptxGenJS Presentation</dc:subject>
  <dc:creator>Iron</dc:creator>
  <cp:lastModifiedBy>Iron</cp:lastModifiedBy>
  <cp:revision>1</cp:revision>
  <dcterms:created xsi:type="dcterms:W3CDTF">2026-08-07T08:21:01Z</dcterms:created>
  <dcterms:modified xsi:type="dcterms:W3CDTF">2026-08-07T08:21:01Z</dcterms:modified>
</cp:coreProperties>
</file>